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566dbd22544f4e" /><Relationship Type="http://schemas.openxmlformats.org/officeDocument/2006/relationships/extended-properties" Target="/docProps/app.xml" Id="Rd0a24b9ffb924fa1" /><Relationship Type="http://schemas.openxmlformats.org/officeDocument/2006/relationships/officeDocument" Target="/ppt/presentation.xml" Id="R6c88d8dc6cf2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9442a450d495b"/>
  </p:sldMasterIdLst>
  <p:notesMasterIdLst>
    <p:notesMasterId xmlns:r="http://schemas.openxmlformats.org/officeDocument/2006/relationships" r:id="R810c0e9dd8a9426a"/>
  </p:notesMasterIdLst>
  <p:sldIdLst>
    <p:sldId xmlns:r="http://schemas.openxmlformats.org/officeDocument/2006/relationships" id="256" r:id="Raa80a9804d0c4401"/>
    <p:sldId xmlns:r="http://schemas.openxmlformats.org/officeDocument/2006/relationships" id="257" r:id="R8ba28f54204945de"/>
    <p:sldId xmlns:r="http://schemas.openxmlformats.org/officeDocument/2006/relationships" id="258" r:id="R2be99fc7f8a7492d"/>
    <p:sldId xmlns:r="http://schemas.openxmlformats.org/officeDocument/2006/relationships" id="259" r:id="R7ea532c896b7440a"/>
    <p:sldId xmlns:r="http://schemas.openxmlformats.org/officeDocument/2006/relationships" id="260" r:id="R6be2a3fb00d7455d"/>
    <p:sldId xmlns:r="http://schemas.openxmlformats.org/officeDocument/2006/relationships" id="261" r:id="R6ee0dfe7e380418a"/>
    <p:sldId xmlns:r="http://schemas.openxmlformats.org/officeDocument/2006/relationships" id="262" r:id="R93e0567fcda349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575ee2a9b74d4f" /><Relationship Type="http://schemas.openxmlformats.org/officeDocument/2006/relationships/slideMaster" Target="/ppt/slideMasters/slideMaster1.xml" Id="Rb649442a450d495b" /><Relationship Type="http://schemas.openxmlformats.org/officeDocument/2006/relationships/notesMaster" Target="/ppt/notesMasters/notesMaster1.xml" Id="R810c0e9dd8a9426a" /><Relationship Type="http://schemas.openxmlformats.org/officeDocument/2006/relationships/presProps" Target="/ppt/presProps.xml" Id="Rb72b1134c0184946" /><Relationship Type="http://schemas.openxmlformats.org/officeDocument/2006/relationships/tableStyles" Target="/ppt/tableStyles.xml" Id="Rf6911b5a4cfa4764" /><Relationship Type="http://schemas.openxmlformats.org/officeDocument/2006/relationships/slide" Target="/ppt/slides/slide1.xml" Id="Raa80a9804d0c4401" /><Relationship Type="http://schemas.openxmlformats.org/officeDocument/2006/relationships/slide" Target="/ppt/slides/slide2.xml" Id="R8ba28f54204945de" /><Relationship Type="http://schemas.openxmlformats.org/officeDocument/2006/relationships/slide" Target="/ppt/slides/slide3.xml" Id="R2be99fc7f8a7492d" /><Relationship Type="http://schemas.openxmlformats.org/officeDocument/2006/relationships/slide" Target="/ppt/slides/slide4.xml" Id="R7ea532c896b7440a" /><Relationship Type="http://schemas.openxmlformats.org/officeDocument/2006/relationships/slide" Target="/ppt/slides/slide5.xml" Id="R6be2a3fb00d7455d" /><Relationship Type="http://schemas.openxmlformats.org/officeDocument/2006/relationships/slide" Target="/ppt/slides/slide6.xml" Id="R6ee0dfe7e380418a" /><Relationship Type="http://schemas.openxmlformats.org/officeDocument/2006/relationships/slide" Target="/ppt/slides/slide7.xml" Id="R93e0567fcda3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eae7ad124f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a79913e2d4d26" /><Relationship Type="http://schemas.openxmlformats.org/officeDocument/2006/relationships/notesMaster" Target="/ppt/notesMasters/notesMaster1.xml" Id="R73a0609e1455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19500e43c4aec" /><Relationship Type="http://schemas.openxmlformats.org/officeDocument/2006/relationships/notesMaster" Target="/ppt/notesMasters/notesMaster1.xml" Id="R6df52566fab1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60b19ea37143d8" /><Relationship Type="http://schemas.openxmlformats.org/officeDocument/2006/relationships/notesMaster" Target="/ppt/notesMasters/notesMaster1.xml" Id="R53bbba3b869a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5fffda70e34b06" /><Relationship Type="http://schemas.openxmlformats.org/officeDocument/2006/relationships/notesMaster" Target="/ppt/notesMasters/notesMaster1.xml" Id="R18501f0f0dcf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6474a874a40df" /><Relationship Type="http://schemas.openxmlformats.org/officeDocument/2006/relationships/notesMaster" Target="/ppt/notesMasters/notesMaster1.xml" Id="R260f746cc1fd47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92d2065a04605" /><Relationship Type="http://schemas.openxmlformats.org/officeDocument/2006/relationships/notesMaster" Target="/ppt/notesMasters/notesMaster1.xml" Id="Rb0cc13a9b6f843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03b4eb73a4ac5" /><Relationship Type="http://schemas.openxmlformats.org/officeDocument/2006/relationships/notesMaster" Target="/ppt/notesMasters/notesMaster1.xml" Id="Rc3e56d52d68e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7dac8f3e4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e8b5a7c9104761" /><Relationship Type="http://schemas.openxmlformats.org/officeDocument/2006/relationships/slideLayout" Target="/ppt/slideLayouts/slideLayout1.xml" Id="Ree94caf91f03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4caf91f03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9e3b8abf4606" /><Relationship Type="http://schemas.openxmlformats.org/officeDocument/2006/relationships/notesSlide" Target="/ppt/notesSlides/notesSlide1.xml" Id="Rd0483acd482743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d4a039d8e4e78" /><Relationship Type="http://schemas.openxmlformats.org/officeDocument/2006/relationships/notesSlide" Target="/ppt/notesSlides/notesSlide2.xml" Id="R9d5f64e5da93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26815f149499e" /><Relationship Type="http://schemas.openxmlformats.org/officeDocument/2006/relationships/image" Target="/ppt/media/image.png" Id="Rfd88c94e28b94a70" /><Relationship Type="http://schemas.openxmlformats.org/officeDocument/2006/relationships/notesSlide" Target="/ppt/notesSlides/notesSlide3.xml" Id="Rbae96411aa9b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e02ebc99a4d91" /><Relationship Type="http://schemas.openxmlformats.org/officeDocument/2006/relationships/image" Target="/ppt/media/image2.png" Id="R9a5d7e142bd5417c" /><Relationship Type="http://schemas.openxmlformats.org/officeDocument/2006/relationships/notesSlide" Target="/ppt/notesSlides/notesSlide4.xml" Id="R513d12285bcc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ea86d724244f1" /><Relationship Type="http://schemas.openxmlformats.org/officeDocument/2006/relationships/image" Target="/ppt/media/image3.png" Id="Ra209c47f14ed44f6" /><Relationship Type="http://schemas.openxmlformats.org/officeDocument/2006/relationships/image" Target="/ppt/media/image4.png" Id="Rb1d6dd1062cc415b" /><Relationship Type="http://schemas.openxmlformats.org/officeDocument/2006/relationships/notesSlide" Target="/ppt/notesSlides/notesSlide5.xml" Id="R64880e264e3d41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d30d6b2a64d2d" /><Relationship Type="http://schemas.openxmlformats.org/officeDocument/2006/relationships/image" Target="/ppt/media/image5.png" Id="Rda1d783184cb4a73" /><Relationship Type="http://schemas.openxmlformats.org/officeDocument/2006/relationships/image" Target="/ppt/media/image6.png" Id="R26c5e907c92a48c3" /><Relationship Type="http://schemas.openxmlformats.org/officeDocument/2006/relationships/notesSlide" Target="/ppt/notesSlides/notesSlide6.xml" Id="Rc0e886fae083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5a7a2019b439a" /><Relationship Type="http://schemas.openxmlformats.org/officeDocument/2006/relationships/notesSlide" Target="/ppt/notesSlides/notesSlide7.xml" Id="R924eff1b4fad4a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13D2E-3468-4C22-BC1F-10D5D00B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PET PROJECT · 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66FFD-D943-4437-98CB-18EF8E6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Что формирует цену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ночёвки на Airbnb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в Берлине?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C12B1-9C13-415A-95E0-F654F08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A7"/>
          </a:solidFill>
          <a:ln xmlns:a="http://schemas.openxmlformats.org/drawingml/2006/main" w="0">
            <a:solidFill>
              <a:srgbClr val="2445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F581A-9A3F-43EE-B564-2A4A78BD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070"/>
                </a:solidFill>
              </a:defRPr>
            </a:pPr>
            <a:r>
              <a:rPr sz="1725" b="0">
                <a:solidFill>
                  <a:srgbClr val="707070"/>
                </a:solidFill>
              </a:rPr>
              <a:t>Анализ 9 171 объявлений после очистки выбросов</a:t>
            </a:r>
          </a:p>
          <a:p xmlns:a="http://schemas.openxmlformats.org/drawingml/2006/main">
            <a:pPr algn="l">
              <a:defRPr sz="1725" b="0">
                <a:solidFill>
                  <a:srgbClr val="707070"/>
                </a:solidFill>
              </a:defRPr>
            </a:pPr>
            <a:r>
              <a:rPr sz="1725" b="0">
                <a:solidFill>
                  <a:srgbClr val="707070"/>
                </a:solidFill>
              </a:rPr>
              <a:t>Inside Airbnb · Berlin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71D0-8E4C-40C1-8036-8DF2A9C2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Python · pandas · matplotlib · seaborn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7303E-7CCC-4FF9-94AC-63A99D3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0"/>
            <a:ext cx="3286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B0E8D-29F4-4DED-A422-747D045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334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0" b="1">
                <a:solidFill>
                  <a:srgbClr val="2445A7"/>
                </a:solidFill>
              </a:defRPr>
            </a:pPr>
            <a:r>
              <a:rPr sz="13500" b="1">
                <a:solidFill>
                  <a:srgbClr val="2445A7"/>
                </a:solidFill>
              </a:rPr>
              <a:t>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85477-482A-4285-860F-702B58B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Цена — не случайность: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тип жилья, локация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и вместимость дают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основной сигнал.</a:t>
            </a:r>
          </a:p>
        </p:txBody>
      </p:sp>
    </p:spTree>
    <p:extLst>
      <p:ext uri="{BB962C8B-B14F-4D97-AF65-F5344CB8AC3E}">
        <p14:creationId xmlns:p14="http://schemas.microsoft.com/office/powerpoint/2010/main" val="2032369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EF00C0-CC7F-42D9-9986-8FA7DB5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B44A9-BF1B-442E-823F-2F6CE74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0B25-6EDD-454B-BCF9-899CA07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Исследование отвечает на простой вопрос: что действительно влияет на цену?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4193-ED97-4A7B-85C2-D479BFB4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41731-F483-4B49-8AFC-B372743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1639C-74AD-45B1-8A4C-E0C491F4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Inside Airbnb · Berlin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14 274 исходных объявления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9 171 после обработки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3B631-1A3A-41F7-B4BB-83CE645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Метод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D73B-AECF-40B4-834B-CFCF36BD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EDA · группировки · корреляции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цены очищены от валютных символов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и обрезаны по 99-му перцентилю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61AC8-E640-4CA0-B623-5BDB3244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Признаки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45337-134C-41F9-8DE8-3D24A13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тип и район жилья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вместимость и спальни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минимальный срок · отзывы · рейтинг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2CAC7-9D93-4587-BE93-5092A12D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solidFill>
              <a:srgbClr val="F1F1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D4CCF-B1E6-4447-82EF-78B7E70F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7070"/>
                </a:solidFill>
              </a:defRPr>
            </a:pPr>
            <a:r>
              <a:rPr sz="1350" b="1">
                <a:solidFill>
                  <a:srgbClr val="707070"/>
                </a:solidFill>
              </a:rPr>
              <a:t>Гипотеза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0ADF7-4113-449B-98C9-DAC52CD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909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Цена в первую очередь связана с характеристиками объекта и локацией, а не с рейтингом.</a:t>
            </a:r>
          </a:p>
        </p:txBody>
      </p:sp>
    </p:spTree>
    <p:extLst>
      <p:ext uri="{BB962C8B-B14F-4D97-AF65-F5344CB8AC3E}">
        <p14:creationId xmlns:p14="http://schemas.microsoft.com/office/powerpoint/2010/main" val="1674754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E7A55-1B62-4D28-BD86-BE430069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775C5-8162-41A3-8687-F5CCC09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DD83D-8B7A-4DB0-8EC8-6AE047F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Тип жилья — один из самых сильных ценовых факторов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728F8-BCEF-4BAB-8BA8-E16B848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8c94e28b94a70"/>
          <a:stretch xmlns:a="http://schemas.openxmlformats.org/drawingml/2006/main"/>
        </p:blipFill>
        <p:spPr>
          <a:xfrm xmlns:a="http://schemas.openxmlformats.org/drawingml/2006/main">
            <a:off x="701561" y="1952625"/>
            <a:ext cx="6207353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478C2-BF1C-4456-862B-F55056A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47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7070"/>
                </a:solidFill>
              </a:defRPr>
            </a:pPr>
            <a:r>
              <a:rPr sz="1350" b="1">
                <a:solidFill>
                  <a:srgbClr val="707070"/>
                </a:solidFill>
              </a:rPr>
              <a:t>Средняя цена за ночь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C9230-899C-4D1D-AABD-78714B4F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47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A5A4A"/>
                </a:solidFill>
              </a:defRPr>
            </a:pPr>
            <a:r>
              <a:rPr sz="2850" b="1">
                <a:solidFill>
                  <a:srgbClr val="BA5A4A"/>
                </a:solidFill>
              </a:rPr>
              <a:t>€197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329F1-A92D-4DDC-A765-A6B0E5C1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070"/>
                </a:solidFill>
              </a:defRPr>
            </a:pPr>
            <a:r>
              <a:rPr sz="1350" b="0">
                <a:solidFill>
                  <a:srgbClr val="707070"/>
                </a:solidFill>
              </a:rPr>
              <a:t>hotel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EE15A-DFE8-4057-98CE-9779B11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45A7"/>
                </a:solidFill>
              </a:defRPr>
            </a:pPr>
            <a:r>
              <a:rPr sz="2850" b="1">
                <a:solidFill>
                  <a:srgbClr val="2445A7"/>
                </a:solidFill>
              </a:rPr>
              <a:t>€141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5D1C5-229A-43A5-A0DC-D65A4C5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070"/>
                </a:solidFill>
              </a:defRPr>
            </a:pPr>
            <a:r>
              <a:rPr sz="1350" b="0">
                <a:solidFill>
                  <a:srgbClr val="707070"/>
                </a:solidFill>
              </a:rPr>
              <a:t>entire home / apt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56E2A-C8F1-4879-BB4B-F649C013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814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7A70"/>
                </a:solidFill>
              </a:defRPr>
            </a:pPr>
            <a:r>
              <a:rPr sz="2850" b="1">
                <a:solidFill>
                  <a:srgbClr val="147A70"/>
                </a:solidFill>
              </a:rPr>
              <a:t>€81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09A8-F4AF-4C3F-8DC8-B07C2347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05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070"/>
                </a:solidFill>
              </a:defRPr>
            </a:pPr>
            <a:r>
              <a:rPr sz="1350" b="0">
                <a:solidFill>
                  <a:srgbClr val="707070"/>
                </a:solidFill>
              </a:rPr>
              <a:t>private 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C0AB3-E740-4629-BB77-1068CA7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814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7070"/>
                </a:solidFill>
              </a:defRPr>
            </a:pPr>
            <a:r>
              <a:rPr sz="2850" b="1">
                <a:solidFill>
                  <a:srgbClr val="707070"/>
                </a:solidFill>
              </a:rPr>
              <a:t>€48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3A050-D25D-4EF4-8C34-31739FF2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070"/>
                </a:solidFill>
              </a:defRPr>
            </a:pPr>
            <a:r>
              <a:rPr sz="1350" b="0">
                <a:solidFill>
                  <a:srgbClr val="707070"/>
                </a:solidFill>
              </a:rPr>
              <a:t>shared 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94800-8049-4014-A1FC-3BC7BB4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863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Целая квартира стоит почти в 3 раза дороже частной комнаты.</a:t>
            </a:r>
          </a:p>
        </p:txBody>
      </p:sp>
    </p:spTree>
    <p:extLst>
      <p:ext uri="{BB962C8B-B14F-4D97-AF65-F5344CB8AC3E}">
        <p14:creationId xmlns:p14="http://schemas.microsoft.com/office/powerpoint/2010/main" val="1465966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BC307-1970-48D5-ABFC-EBA4506B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106F7-1CD4-4927-A994-872F7A6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8100B-0B8D-45A8-A1D0-D69CA48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Центральные районы формируют ценовую премию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1E08C-A603-494E-B534-402875BB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d7e142bd5417c"/>
          <a:stretch xmlns:a="http://schemas.openxmlformats.org/drawingml/2006/main"/>
        </p:blipFill>
        <p:spPr>
          <a:xfrm xmlns:a="http://schemas.openxmlformats.org/drawingml/2006/main">
            <a:off x="688573" y="1971675"/>
            <a:ext cx="6852453" cy="3409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D2A9E-2D04-4C6C-9E06-BD72B326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Mitte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216CE-1AA2-472C-86E2-DD8F70A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070"/>
                </a:solidFill>
              </a:defRPr>
            </a:pPr>
            <a:r>
              <a:rPr sz="1575" b="0">
                <a:solidFill>
                  <a:srgbClr val="707070"/>
                </a:solidFill>
              </a:rPr>
              <a:t>€146.6 средняя цена</a:t>
            </a:r>
          </a:p>
          <a:p xmlns:a="http://schemas.openxmlformats.org/drawingml/2006/main">
            <a:pPr algn="l">
              <a:defRPr sz="1575" b="0">
                <a:solidFill>
                  <a:srgbClr val="707070"/>
                </a:solidFill>
              </a:defRPr>
            </a:pPr>
            <a:r>
              <a:rPr sz="1575" b="0">
                <a:solidFill>
                  <a:srgbClr val="707070"/>
                </a:solidFill>
              </a:rPr>
              <a:t>€123 медиана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BE4BA-97D7-4D1B-804E-83E69260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0425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solidFill>
              <a:srgbClr val="F1F1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28C6E-07FF-460B-9CF0-0C4C935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Reinickendorf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FD111-819C-4E9F-8383-2873DD4F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070"/>
                </a:solidFill>
              </a:defRPr>
            </a:pPr>
            <a:r>
              <a:rPr sz="1575" b="0">
                <a:solidFill>
                  <a:srgbClr val="707070"/>
                </a:solidFill>
              </a:rPr>
              <a:t>€87.4 — минимальная</a:t>
            </a:r>
          </a:p>
          <a:p xmlns:a="http://schemas.openxmlformats.org/drawingml/2006/main">
            <a:pPr algn="l">
              <a:defRPr sz="1575" b="0">
                <a:solidFill>
                  <a:srgbClr val="707070"/>
                </a:solidFill>
              </a:defRPr>
            </a:pPr>
            <a:r>
              <a:rPr sz="1575" b="0">
                <a:solidFill>
                  <a:srgbClr val="707070"/>
                </a:solidFill>
              </a:rPr>
              <a:t>средняя цена среди районов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859FD-CFC4-47CA-98CA-A7B80AB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Разрыв между Mitte и Reinickendorf — €59 за ночь.</a:t>
            </a:r>
          </a:p>
        </p:txBody>
      </p:sp>
    </p:spTree>
    <p:extLst>
      <p:ext uri="{BB962C8B-B14F-4D97-AF65-F5344CB8AC3E}">
        <p14:creationId xmlns:p14="http://schemas.microsoft.com/office/powerpoint/2010/main" val="203200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44030-3526-4F70-BCDD-20ED639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D3212-7B8C-4791-86AE-3CA467DE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052FE-5F32-4F61-A682-1817DE4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Размер жилья повышает цену, а долгий минимум снижает её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F195C-D8C9-4710-A944-0F366908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9c47f14ed44f6"/>
          <a:stretch xmlns:a="http://schemas.openxmlformats.org/drawingml/2006/main"/>
        </p:blipFill>
        <p:spPr>
          <a:xfrm xmlns:a="http://schemas.openxmlformats.org/drawingml/2006/main">
            <a:off x="1022030" y="1952625"/>
            <a:ext cx="4423415" cy="36671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6dd1062cc415b"/>
          <a:stretch xmlns:a="http://schemas.openxmlformats.org/drawingml/2006/main"/>
        </p:blipFill>
        <p:spPr>
          <a:xfrm xmlns:a="http://schemas.openxmlformats.org/drawingml/2006/main">
            <a:off x="6764696" y="1952625"/>
            <a:ext cx="4425233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D5BC1-93D4-4A0C-9FDD-4A16CE9C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7070"/>
                </a:solidFill>
              </a:defRPr>
            </a:pPr>
            <a:r>
              <a:rPr sz="1350" b="1">
                <a:solidFill>
                  <a:srgbClr val="707070"/>
                </a:solidFill>
              </a:rPr>
              <a:t>Вместимость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4736-CDA5-404E-B30A-6206CCD3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45A7"/>
                </a:solidFill>
              </a:defRPr>
            </a:pPr>
            <a:r>
              <a:rPr sz="2250" b="1">
                <a:solidFill>
                  <a:srgbClr val="2445A7"/>
                </a:solidFill>
              </a:rPr>
              <a:t>r = 0.59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A74CB-089C-4D9D-A73E-F999920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76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Сильная положительная связь: квартиры на 4 гостей заметно дороже жилья на 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5B593-44CE-4A39-8C11-373BADB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86450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7070"/>
                </a:solidFill>
              </a:defRPr>
            </a:pPr>
            <a:r>
              <a:rPr sz="1350" b="1">
                <a:solidFill>
                  <a:srgbClr val="707070"/>
                </a:solidFill>
              </a:rPr>
              <a:t>Минимальный срок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23A8-E5C2-47FF-806F-EAEC018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191250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A5A4A"/>
                </a:solidFill>
              </a:defRPr>
            </a:pPr>
            <a:r>
              <a:rPr sz="2250" b="1">
                <a:solidFill>
                  <a:srgbClr val="BA5A4A"/>
                </a:solidFill>
              </a:rPr>
              <a:t>r = −0.20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45BF2-229C-417A-A277-77E683F7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876925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Долгосрочные варианты дешевле за ночь: вероятный эффект скидки за длительное проживание.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161652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F01D8-1C21-4876-A181-F306784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69BF-14BB-43AB-818A-46BEB0A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72F74-5F80-4A3F-948C-DA9B189A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Рейтинг и число отзывов почти не объясняют цену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015E2-08A2-43E1-A0BF-446152C2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d783184cb4a73"/>
          <a:stretch xmlns:a="http://schemas.openxmlformats.org/drawingml/2006/main"/>
        </p:blipFill>
        <p:spPr>
          <a:xfrm xmlns:a="http://schemas.openxmlformats.org/drawingml/2006/main">
            <a:off x="777072" y="1952625"/>
            <a:ext cx="4151332" cy="3429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5e907c92a48c3"/>
          <a:stretch xmlns:a="http://schemas.openxmlformats.org/drawingml/2006/main"/>
        </p:blipFill>
        <p:spPr>
          <a:xfrm xmlns:a="http://schemas.openxmlformats.org/drawingml/2006/main">
            <a:off x="5981700" y="1957806"/>
            <a:ext cx="3810000" cy="33995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7F47B-A9A2-41CC-9DC4-815E40D8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7070"/>
                </a:solidFill>
              </a:defRPr>
            </a:pPr>
            <a:r>
              <a:rPr sz="1125" b="1">
                <a:solidFill>
                  <a:srgbClr val="707070"/>
                </a:solidFill>
              </a:rPr>
              <a:t>price ↔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06603-960E-44B5-AA65-6303B323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45A7"/>
                </a:solidFill>
              </a:defRPr>
            </a:pPr>
            <a:r>
              <a:rPr sz="2850" b="1">
                <a:solidFill>
                  <a:srgbClr val="2445A7"/>
                </a:solidFill>
              </a:rPr>
              <a:t>0.03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3EB64-3616-4AA8-8700-45C49BE0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23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7070"/>
                </a:solidFill>
              </a:defRPr>
            </a:pPr>
            <a:r>
              <a:rPr sz="1125" b="1">
                <a:solidFill>
                  <a:srgbClr val="707070"/>
                </a:solidFill>
              </a:rPr>
              <a:t>price ↔ 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0E340-DC01-4779-8ADD-F87E5B9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480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A5A4A"/>
                </a:solidFill>
              </a:defRPr>
            </a:pPr>
            <a:r>
              <a:rPr sz="2850" b="1">
                <a:solidFill>
                  <a:srgbClr val="BA5A4A"/>
                </a:solidFill>
              </a:rPr>
              <a:t>−0.03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14B50-D930-4239-909B-81104F6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7070"/>
                </a:solidFill>
              </a:defRPr>
            </a:pPr>
            <a:r>
              <a:rPr sz="1125" b="1">
                <a:solidFill>
                  <a:srgbClr val="707070"/>
                </a:solidFill>
              </a:rPr>
              <a:t>price ↔ 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6C5E7-9AD6-4075-B537-708C889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7A70"/>
                </a:solidFill>
              </a:defRPr>
            </a:pPr>
            <a:r>
              <a:rPr sz="2850" b="1">
                <a:solidFill>
                  <a:srgbClr val="147A70"/>
                </a:solidFill>
              </a:rPr>
              <a:t>0.54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A2C8A-0CCE-40BE-93DF-1350C99D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В модель стоит в первую очередь брать пространство жилья и правила бронирования.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27007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8B599-1590-47AD-B0E8-FCF45AC1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AIRBNB BERLIN · PET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396C1-0A1A-4FF4-953C-EE62EF2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C5741-8585-4A8B-861C-04CE254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Вывод: цену можно объяснять через объект, район и условия бронирования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A6A41-0D8A-489B-9893-83AAA7EC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A5A-1C4F-4E62-B8EF-102C7150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Ключевые факторы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A633-347C-4112-85B8-F306C14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01  тип жилья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02  район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03  вместимость / спальни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04  минимальный срок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CD913-0192-4993-8A16-50E0ACD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Слабые сигналы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823DD-AFAC-4A18-BFBB-9036B65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07070"/>
                </a:solidFill>
              </a:defRPr>
            </a:pPr>
            <a:r>
              <a:rPr sz="2025" b="0">
                <a:solidFill>
                  <a:srgbClr val="707070"/>
                </a:solidFill>
              </a:rPr>
              <a:t>рейтинг · число отзывов</a:t>
            </a:r>
          </a:p>
          <a:p xmlns:a="http://schemas.openxmlformats.org/drawingml/2006/main">
            <a:pPr algn="l">
              <a:defRPr sz="2025" b="0">
                <a:solidFill>
                  <a:srgbClr val="707070"/>
                </a:solidFill>
              </a:defRPr>
            </a:pPr>
            <a:r>
              <a:rPr sz="2025" b="0">
                <a:solidFill>
                  <a:srgbClr val="707070"/>
                </a:solidFill>
              </a:rPr>
              <a:t>доступность в течение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DE996-E6A3-470D-9B47-4FDAB8D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F08CA-BDD0-41D2-A730-5890C69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Следующий шаг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848AE-4BA8-4848-A076-6505DC28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054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Собрать модель ценообразования: train/test, регуляризованная регрессия и gradient boosting; добавить геоданные и текст описания.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8CCE4-EC5D-4754-934C-1C8A1B1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GitHub-ready: ноутбук воспроизводит очистку, EDA и экспорт графиков.</a:t>
            </a:r>
          </a:p>
        </p:txBody>
      </p:sp>
    </p:spTree>
    <p:extLst>
      <p:ext uri="{BB962C8B-B14F-4D97-AF65-F5344CB8AC3E}">
        <p14:creationId xmlns:p14="http://schemas.microsoft.com/office/powerpoint/2010/main" val="1459617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2026-07-18T13:03:05.1280000Z</dcterms:created>
  <dcterms:modified xsi:type="dcterms:W3CDTF">2026-07-18T13:03:05.1280000Z</dcterms:modified>
</coreProperties>
</file>